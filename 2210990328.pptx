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1" name="Shape 31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37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38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41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43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44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5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47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Title Text"/>
          <p:cNvSpPr txBox="1"/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9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4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61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62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3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65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0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67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68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9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71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itle Text"/>
          <p:cNvSpPr txBox="1"/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457200" y="1604519"/>
            <a:ext cx="8229241" cy="3977282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3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8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85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86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7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89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4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91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92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95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itle Text"/>
          <p:cNvSpPr txBox="1"/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97" name="Body Level One…"/>
          <p:cNvSpPr txBox="1"/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PlaceHolder 3"/>
          <p:cNvSpPr/>
          <p:nvPr>
            <p:ph type="body" sz="half" idx="21"/>
          </p:nvPr>
        </p:nvSpPr>
        <p:spPr>
          <a:xfrm>
            <a:off x="4674239" y="1604519"/>
            <a:ext cx="4015800" cy="3977282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3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10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11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2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14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9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16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17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8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20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Title Text"/>
          <p:cNvSpPr txBox="1"/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1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6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33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34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5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37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2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39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40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1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43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Body Level One…"/>
          <p:cNvSpPr txBox="1"/>
          <p:nvPr>
            <p:ph type="body" sz="half" idx="1"/>
          </p:nvPr>
        </p:nvSpPr>
        <p:spPr>
          <a:xfrm>
            <a:off x="0" y="0"/>
            <a:ext cx="5486040" cy="4238281"/>
          </a:xfrm>
          <a:prstGeom prst="rect">
            <a:avLst/>
          </a:prstGeom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9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56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57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8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60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5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62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63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4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66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Title Text"/>
          <p:cNvSpPr txBox="1"/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68" name="Body Level One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PlaceHolder 3"/>
          <p:cNvSpPr/>
          <p:nvPr/>
        </p:nvSpPr>
        <p:spPr>
          <a:xfrm>
            <a:off x="4674239" y="1604519"/>
            <a:ext cx="4015800" cy="39772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pc="-100" sz="32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" name="PlaceHolder 4"/>
          <p:cNvSpPr/>
          <p:nvPr>
            <p:ph type="body" sz="quarter" idx="21"/>
          </p:nvPr>
        </p:nvSpPr>
        <p:spPr>
          <a:xfrm>
            <a:off x="457199" y="3682079"/>
            <a:ext cx="4015801" cy="18968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1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80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5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82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83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4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86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91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88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89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0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92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Title Text"/>
          <p:cNvSpPr txBox="1"/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94" name="Body Level One…"/>
          <p:cNvSpPr txBox="1"/>
          <p:nvPr>
            <p:ph type="body" sz="half" idx="1"/>
          </p:nvPr>
        </p:nvSpPr>
        <p:spPr>
          <a:xfrm>
            <a:off x="457200" y="1604519"/>
            <a:ext cx="4015800" cy="3977282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5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pc="-100" sz="32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6" name="PlaceHolder 4"/>
          <p:cNvSpPr/>
          <p:nvPr>
            <p:ph type="body" sz="quarter" idx="21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1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6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1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08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09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0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212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17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14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15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6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218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Title Text"/>
          <p:cNvSpPr txBox="1"/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20" name="Body Level One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1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pc="-100" sz="32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" name="PlaceHolder 4"/>
          <p:cNvSpPr/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2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2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7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34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35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6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238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3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40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41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2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244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Title Text"/>
          <p:cNvSpPr txBox="1"/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46" name="Body Level One…"/>
          <p:cNvSpPr txBox="1"/>
          <p:nvPr>
            <p:ph type="body" sz="half" idx="1"/>
          </p:nvPr>
        </p:nvSpPr>
        <p:spPr>
          <a:xfrm>
            <a:off x="457200" y="1604519"/>
            <a:ext cx="8229241" cy="1896842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7" name="PlaceHolder 3"/>
          <p:cNvSpPr/>
          <p:nvPr>
            <p:ph type="body" sz="half" idx="21"/>
          </p:nvPr>
        </p:nvSpPr>
        <p:spPr>
          <a:xfrm>
            <a:off x="457199" y="3682079"/>
            <a:ext cx="8229242" cy="18968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2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57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2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59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60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1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263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8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65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66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7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269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Title Text"/>
          <p:cNvSpPr txBox="1"/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71" name="Body Level One…"/>
          <p:cNvSpPr txBox="1"/>
          <p:nvPr>
            <p:ph type="body" sz="quarter" idx="1"/>
          </p:nvPr>
        </p:nvSpPr>
        <p:spPr>
          <a:xfrm>
            <a:off x="457200" y="1604519"/>
            <a:ext cx="4015800" cy="1896842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2" name="PlaceHolder 3"/>
          <p:cNvSpPr/>
          <p:nvPr/>
        </p:nvSpPr>
        <p:spPr>
          <a:xfrm>
            <a:off x="4674239" y="1604519"/>
            <a:ext cx="4015800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pc="-100" sz="32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PlaceHolder 4"/>
          <p:cNvSpPr/>
          <p:nvPr/>
        </p:nvSpPr>
        <p:spPr>
          <a:xfrm>
            <a:off x="457199" y="3682079"/>
            <a:ext cx="40158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pc="-100" sz="32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PlaceHolder 5"/>
          <p:cNvSpPr/>
          <p:nvPr>
            <p:ph type="body" sz="quarter" idx="21"/>
          </p:nvPr>
        </p:nvSpPr>
        <p:spPr>
          <a:xfrm>
            <a:off x="4674239" y="3682079"/>
            <a:ext cx="4015800" cy="18968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2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8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89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86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87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8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290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95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292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93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4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296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Title Text"/>
          <p:cNvSpPr txBox="1"/>
          <p:nvPr>
            <p:ph type="title"/>
          </p:nvPr>
        </p:nvSpPr>
        <p:spPr>
          <a:xfrm>
            <a:off x="0" y="0"/>
            <a:ext cx="5486040" cy="9140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98" name="Body Level One…"/>
          <p:cNvSpPr txBox="1"/>
          <p:nvPr>
            <p:ph type="body" sz="quarter" idx="1"/>
          </p:nvPr>
        </p:nvSpPr>
        <p:spPr>
          <a:xfrm>
            <a:off x="457200" y="1604519"/>
            <a:ext cx="2649601" cy="1896842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9" name="PlaceHolder 3"/>
          <p:cNvSpPr/>
          <p:nvPr/>
        </p:nvSpPr>
        <p:spPr>
          <a:xfrm>
            <a:off x="3239640" y="1604519"/>
            <a:ext cx="264960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pc="-100" sz="32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PlaceHolder 4"/>
          <p:cNvSpPr/>
          <p:nvPr/>
        </p:nvSpPr>
        <p:spPr>
          <a:xfrm>
            <a:off x="6022080" y="1604519"/>
            <a:ext cx="2649601" cy="18968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pc="-100" sz="32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PlaceHolder 5"/>
          <p:cNvSpPr/>
          <p:nvPr/>
        </p:nvSpPr>
        <p:spPr>
          <a:xfrm>
            <a:off x="457199" y="3682079"/>
            <a:ext cx="2649602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pc="-100" sz="32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PlaceHolder 6"/>
          <p:cNvSpPr/>
          <p:nvPr/>
        </p:nvSpPr>
        <p:spPr>
          <a:xfrm>
            <a:off x="3239640" y="3682079"/>
            <a:ext cx="2649601" cy="18968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343080" indent="-342719"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  <a:defRPr spc="-100" sz="32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PlaceHolder 7"/>
          <p:cNvSpPr/>
          <p:nvPr>
            <p:ph type="body" sz="quarter" idx="21"/>
          </p:nvPr>
        </p:nvSpPr>
        <p:spPr>
          <a:xfrm>
            <a:off x="6022080" y="3682079"/>
            <a:ext cx="2649601" cy="1896841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3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" name="CustomShape 2"/>
          <p:cNvSpPr/>
          <p:nvPr/>
        </p:nvSpPr>
        <p:spPr>
          <a:xfrm flipV="1">
            <a:off x="-1" y="6704640"/>
            <a:ext cx="9143642" cy="197641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" name="Group 3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6" name="CustomShape 4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7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" name="CustomShape 5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0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roup 6"/>
          <p:cNvGrpSpPr/>
          <p:nvPr/>
        </p:nvGrpSpPr>
        <p:grpSpPr>
          <a:xfrm>
            <a:off x="6146639" y="0"/>
            <a:ext cx="2997001" cy="875880"/>
            <a:chOff x="0" y="0"/>
            <a:chExt cx="2997000" cy="875878"/>
          </a:xfrm>
        </p:grpSpPr>
        <p:sp>
          <p:nvSpPr>
            <p:cNvPr id="12" name="CustomShape 7"/>
            <p:cNvSpPr/>
            <p:nvPr/>
          </p:nvSpPr>
          <p:spPr>
            <a:xfrm>
              <a:off x="-1" y="0"/>
              <a:ext cx="2997002" cy="837720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3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0" y="228599"/>
              <a:ext cx="2057040" cy="6346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" name="CustomShape 8"/>
            <p:cNvSpPr/>
            <p:nvPr/>
          </p:nvSpPr>
          <p:spPr>
            <a:xfrm>
              <a:off x="381240" y="190439"/>
              <a:ext cx="2076121" cy="68544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16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1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itle Text"/>
          <p:cNvSpPr txBox="1"/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18" name="Body Level One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pc="-1" sz="1200">
                <a:solidFill>
                  <a:srgbClr val="898989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3080" marR="0" indent="-3427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822" marR="0" indent="-326262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079" marR="0" indent="-3043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143" marR="0" indent="-365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343" marR="0" indent="-365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924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496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068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640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1"/>
          <p:cNvSpPr txBox="1"/>
          <p:nvPr/>
        </p:nvSpPr>
        <p:spPr>
          <a:xfrm>
            <a:off x="45719" y="840631"/>
            <a:ext cx="9052562" cy="5557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spcBef>
                <a:spcPts val="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Project Presentation of CO-OP Project at Industry (Module-2) (22CS421)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</a:t>
            </a:r>
          </a:p>
          <a:p>
            <a:pPr algn="ctr">
              <a:spcBef>
                <a:spcPts val="400"/>
              </a:spcBef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</a:t>
            </a:r>
            <a:r>
              <a:rPr b="1" sz="2000" u="sng"/>
              <a:t>Machine Learning-Based Cyber Attack Detection Using Security Event Data</a:t>
            </a:r>
            <a:endParaRPr i="1" spc="-1" sz="2000"/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br>
              <a:rPr i="1"/>
            </a:br>
            <a:r>
              <a:rPr spc="0" sz="1900"/>
              <a:t>Gopika Ashutosh Goyal</a:t>
            </a:r>
            <a:endParaRPr spc="0" sz="1900"/>
          </a:p>
          <a:p>
            <a:pPr algn="ctr">
              <a:spcBef>
                <a:spcPts val="400"/>
              </a:spcBef>
              <a:defRPr spc="0"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2210990328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0"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Supervised By :- </a:t>
            </a:r>
          </a:p>
          <a:p>
            <a:pPr algn="ctr">
              <a:spcBef>
                <a:spcPts val="400"/>
              </a:spcBef>
              <a:defRPr spc="0"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 Gifty Gupta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0"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 of Computer Science and Engineering, </a:t>
            </a:r>
          </a:p>
          <a:p>
            <a:pPr algn="ctr">
              <a:spcBef>
                <a:spcPts val="400"/>
              </a:spcBef>
              <a:defRPr spc="0" sz="19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  <a:defRPr spc="-1" sz="20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Shape 1"/>
          <p:cNvSpPr txBox="1"/>
          <p:nvPr/>
        </p:nvSpPr>
        <p:spPr>
          <a:xfrm>
            <a:off x="502919" y="146822"/>
            <a:ext cx="5928122" cy="544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Index</a:t>
            </a:r>
          </a:p>
        </p:txBody>
      </p:sp>
      <p:sp>
        <p:nvSpPr>
          <p:cNvPr id="316" name="TextShape 3"/>
          <p:cNvSpPr txBox="1"/>
          <p:nvPr>
            <p:ph type="sldNum" sz="quarter" idx="4294967295"/>
          </p:nvPr>
        </p:nvSpPr>
        <p:spPr>
          <a:xfrm>
            <a:off x="8505185" y="6414707"/>
            <a:ext cx="181255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17" name="TextShape 2"/>
          <p:cNvSpPr txBox="1"/>
          <p:nvPr/>
        </p:nvSpPr>
        <p:spPr>
          <a:xfrm>
            <a:off x="86110" y="1150920"/>
            <a:ext cx="8747281" cy="4769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402166" indent="-402166" algn="just" defTabSz="457200">
              <a:lnSpc>
                <a:spcPct val="200000"/>
              </a:lnSpc>
              <a:buSzPct val="100000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pc="-1" sz="1900"/>
              <a:t>Introduction</a:t>
            </a:r>
            <a:endParaRPr spc="-1" sz="1900"/>
          </a:p>
          <a:p>
            <a:pPr marL="402166" indent="-402166" algn="just" defTabSz="457200">
              <a:lnSpc>
                <a:spcPct val="200000"/>
              </a:lnSpc>
              <a:buSzPct val="100000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pc="-1" sz="1900"/>
              <a:t>Problem Statement and Objectives</a:t>
            </a:r>
            <a:endParaRPr spc="-1" sz="1900"/>
          </a:p>
          <a:p>
            <a:pPr marL="402166" indent="-402166" algn="just" defTabSz="457200">
              <a:lnSpc>
                <a:spcPct val="200000"/>
              </a:lnSpc>
              <a:buSzPct val="100000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pc="-1" sz="1900"/>
              <a:t>Related Work</a:t>
            </a:r>
            <a:endParaRPr spc="-1" sz="1900"/>
          </a:p>
          <a:p>
            <a:pPr marL="402166" indent="-402166" algn="just" defTabSz="457200">
              <a:lnSpc>
                <a:spcPct val="200000"/>
              </a:lnSpc>
              <a:buSzPct val="100000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pc="-1" sz="1900"/>
              <a:t>Proposed Methodology</a:t>
            </a:r>
            <a:endParaRPr spc="-1" sz="1900"/>
          </a:p>
          <a:p>
            <a:pPr marL="402166" indent="-402166" algn="just" defTabSz="457200">
              <a:lnSpc>
                <a:spcPct val="200000"/>
              </a:lnSpc>
              <a:buSzPct val="100000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pc="-1" sz="1900"/>
              <a:t>Implementation</a:t>
            </a:r>
            <a:endParaRPr spc="-1" sz="1900"/>
          </a:p>
          <a:p>
            <a:pPr marL="402166" indent="-402166" algn="just" defTabSz="457200">
              <a:lnSpc>
                <a:spcPct val="200000"/>
              </a:lnSpc>
              <a:buSzPct val="100000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pc="-1" sz="1900"/>
              <a:t>Results</a:t>
            </a:r>
            <a:endParaRPr spc="-1" sz="1900"/>
          </a:p>
          <a:p>
            <a:pPr marL="402166" indent="-402166" algn="just" defTabSz="457200">
              <a:lnSpc>
                <a:spcPct val="200000"/>
              </a:lnSpc>
              <a:buSzPct val="100000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pc="-1" sz="1900"/>
              <a:t>Conclusion and Future Scope</a:t>
            </a:r>
            <a:endParaRPr spc="-1" sz="1900"/>
          </a:p>
          <a:p>
            <a:pPr marL="402166" indent="-402166" algn="just" defTabSz="457200">
              <a:lnSpc>
                <a:spcPct val="200000"/>
              </a:lnSpc>
              <a:buSzPct val="100000"/>
              <a:buChar char="•"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pc="-1" sz="1900"/>
              <a:t>References</a:t>
            </a:r>
            <a:endParaRPr spc="-1" sz="1900">
              <a:latin typeface="+mj-lt"/>
              <a:ea typeface="+mj-ea"/>
              <a:cs typeface="+mj-cs"/>
              <a:sym typeface="Calibri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Introduction"/>
          <p:cNvSpPr txBox="1"/>
          <p:nvPr>
            <p:ph type="title" idx="4294967295"/>
          </p:nvPr>
        </p:nvSpPr>
        <p:spPr>
          <a:xfrm>
            <a:off x="457200" y="92074"/>
            <a:ext cx="4632732" cy="691731"/>
          </a:xfrm>
          <a:prstGeom prst="rect">
            <a:avLst/>
          </a:prstGeom>
        </p:spPr>
        <p:txBody>
          <a:bodyPr/>
          <a:lstStyle>
            <a:lvl1pPr>
              <a:defRPr spc="0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320" name="Increasing dependence on digital systems has led to a rapid rise in cyber threats.…"/>
          <p:cNvSpPr txBox="1"/>
          <p:nvPr>
            <p:ph type="body" idx="4294967295"/>
          </p:nvPr>
        </p:nvSpPr>
        <p:spPr>
          <a:xfrm>
            <a:off x="215432" y="1133933"/>
            <a:ext cx="8229601" cy="4590134"/>
          </a:xfrm>
          <a:prstGeom prst="rect">
            <a:avLst/>
          </a:prstGeom>
        </p:spPr>
        <p:txBody>
          <a:bodyPr/>
          <a:lstStyle/>
          <a:p>
            <a:pPr marL="140368" indent="-140368" algn="just" defTabSz="457200">
              <a:lnSpc>
                <a:spcPct val="150000"/>
              </a:lnSpc>
              <a:buClrTx/>
              <a:buFontTx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Increasing dependence on digital systems has led to a rapid rise in cyber threats.</a:t>
            </a:r>
          </a:p>
          <a:p>
            <a:pPr marL="140368" indent="-140368" algn="just" defTabSz="457200">
              <a:lnSpc>
                <a:spcPct val="150000"/>
              </a:lnSpc>
              <a:buClrTx/>
              <a:buFontTx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Traditional rule-based security systems struggle to detect modern and evolving attacks.</a:t>
            </a:r>
          </a:p>
          <a:p>
            <a:pPr marL="140368" indent="-140368" algn="just" defTabSz="457200">
              <a:lnSpc>
                <a:spcPct val="150000"/>
              </a:lnSpc>
              <a:buClrTx/>
              <a:buFontTx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Common cyber attacks include:</a:t>
            </a:r>
          </a:p>
          <a:p>
            <a:pPr lvl="1" marL="521368" indent="-140368" algn="just" defTabSz="457200">
              <a:lnSpc>
                <a:spcPct val="150000"/>
              </a:lnSpc>
              <a:buClrTx/>
              <a:buFontTx/>
              <a:buChar char="•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Malware</a:t>
            </a:r>
          </a:p>
          <a:p>
            <a:pPr lvl="1" marL="521368" indent="-140368" algn="just" defTabSz="457200">
              <a:lnSpc>
                <a:spcPct val="150000"/>
              </a:lnSpc>
              <a:buClrTx/>
              <a:buFontTx/>
              <a:buChar char="•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Phishing</a:t>
            </a:r>
          </a:p>
          <a:p>
            <a:pPr lvl="1" marL="521368" indent="-140368" algn="just" defTabSz="457200">
              <a:lnSpc>
                <a:spcPct val="150000"/>
              </a:lnSpc>
              <a:buClrTx/>
              <a:buFontTx/>
              <a:buChar char="•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Ransomware</a:t>
            </a:r>
          </a:p>
          <a:p>
            <a:pPr lvl="1" marL="521368" indent="-140368" algn="just" defTabSz="457200">
              <a:lnSpc>
                <a:spcPct val="150000"/>
              </a:lnSpc>
              <a:buClrTx/>
              <a:buFontTx/>
              <a:buChar char="•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DDoS Attacks</a:t>
            </a:r>
          </a:p>
          <a:p>
            <a:pPr marL="140368" indent="-140368" algn="just" defTabSz="457200">
              <a:lnSpc>
                <a:spcPct val="150000"/>
              </a:lnSpc>
              <a:buClrTx/>
              <a:buFontTx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Large-scale security event data makes manual monitoring inefficient and error-prone.</a:t>
            </a:r>
          </a:p>
          <a:p>
            <a:pPr marL="140368" indent="-140368" algn="just" defTabSz="457200">
              <a:lnSpc>
                <a:spcPct val="150000"/>
              </a:lnSpc>
              <a:buClrTx/>
              <a:buFontTx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Learning enables intelligent and automated threat detection by identifying hidden attack patterns.</a:t>
            </a:r>
          </a:p>
          <a:p>
            <a:pPr marL="140368" indent="-140368" algn="just" defTabSz="457200">
              <a:lnSpc>
                <a:spcPct val="150000"/>
              </a:lnSpc>
              <a:buClrTx/>
              <a:buFontTx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objective of this project is to develop a Machine Learning-based cyber attack detection system using cybersecurity event data.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roblem Statement…"/>
          <p:cNvSpPr txBox="1"/>
          <p:nvPr>
            <p:ph type="body" idx="4294967295"/>
          </p:nvPr>
        </p:nvSpPr>
        <p:spPr>
          <a:xfrm>
            <a:off x="120452" y="1125299"/>
            <a:ext cx="8135025" cy="4000221"/>
          </a:xfrm>
          <a:prstGeom prst="rect">
            <a:avLst/>
          </a:prstGeom>
        </p:spPr>
        <p:txBody>
          <a:bodyPr/>
          <a:lstStyle/>
          <a:p>
            <a:pPr marL="0" indent="0" algn="just" defTabSz="457200">
              <a:lnSpc>
                <a:spcPct val="150000"/>
              </a:lnSpc>
              <a:buClrTx/>
              <a:buSzTx/>
              <a:buFontTx/>
              <a:buNone/>
              <a:defRPr b="1" spc="0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Problem Statement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Traditional rule-based systems struggle to detect evolving cyber attacks. 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Large-scale security data makes manual monitoring inefficient.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High false positives reduce detection reliability.</a:t>
            </a:r>
          </a:p>
          <a:p>
            <a:pPr marL="0" indent="0" algn="just" defTabSz="457200">
              <a:lnSpc>
                <a:spcPct val="150000"/>
              </a:lnSpc>
              <a:buClrTx/>
              <a:buSzTx/>
              <a:buFontTx/>
              <a:buNone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0" indent="0" algn="just" defTabSz="457200">
              <a:lnSpc>
                <a:spcPct val="150000"/>
              </a:lnSpc>
              <a:buClrTx/>
              <a:buSzTx/>
              <a:buFontTx/>
              <a:buNone/>
              <a:defRPr b="1" spc="0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Objectives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Analyze and preprocess cybersecurity event data.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Apply Machine Learning algorithms for attack detection.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Evaluate performance using accuracy, precision, recall, and F1-score.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Improve automated threat detection efficiency.</a:t>
            </a:r>
          </a:p>
        </p:txBody>
      </p:sp>
      <p:sp>
        <p:nvSpPr>
          <p:cNvPr id="323" name="Problem Statement and Objectives"/>
          <p:cNvSpPr txBox="1"/>
          <p:nvPr/>
        </p:nvSpPr>
        <p:spPr>
          <a:xfrm>
            <a:off x="457200" y="92074"/>
            <a:ext cx="5928051" cy="837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Problem Statement and Objectives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Related Work"/>
          <p:cNvSpPr txBox="1"/>
          <p:nvPr/>
        </p:nvSpPr>
        <p:spPr>
          <a:xfrm>
            <a:off x="-60874" y="19079"/>
            <a:ext cx="5928052" cy="837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Related Work</a:t>
            </a:r>
          </a:p>
        </p:txBody>
      </p:sp>
      <p:sp>
        <p:nvSpPr>
          <p:cNvPr id="326" name="Traditional cybersecurity systems mainly use signature-based and rule-based detection methods.…"/>
          <p:cNvSpPr txBox="1"/>
          <p:nvPr>
            <p:ph type="body" idx="4294967295"/>
          </p:nvPr>
        </p:nvSpPr>
        <p:spPr>
          <a:xfrm>
            <a:off x="180894" y="987146"/>
            <a:ext cx="8229601" cy="5257801"/>
          </a:xfrm>
          <a:prstGeom prst="rect">
            <a:avLst/>
          </a:prstGeom>
        </p:spPr>
        <p:txBody>
          <a:bodyPr/>
          <a:lstStyle/>
          <a:p>
            <a:pPr marL="140368" indent="-140368" algn="just" defTabSz="457200">
              <a:lnSpc>
                <a:spcPct val="150000"/>
              </a:lnSpc>
              <a:buClrTx/>
              <a:buFontTx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Traditional cybersecurity systems mainly use signature-based and rule-based detection methods.</a:t>
            </a:r>
          </a:p>
          <a:p>
            <a:pPr marL="140368" indent="-140368" algn="just" defTabSz="457200">
              <a:lnSpc>
                <a:spcPct val="150000"/>
              </a:lnSpc>
              <a:buClrTx/>
              <a:buFontTx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Learning techniques such as:</a:t>
            </a:r>
          </a:p>
          <a:p>
            <a:pPr lvl="1" marL="609600" indent="-228600" algn="just" defTabSz="457200">
              <a:lnSpc>
                <a:spcPct val="150000"/>
              </a:lnSpc>
              <a:buClrTx/>
              <a:buFont typeface="Times Roman"/>
              <a:buChar char="•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Decision Trees</a:t>
            </a:r>
          </a:p>
          <a:p>
            <a:pPr lvl="1" marL="609600" indent="-228600" algn="just" defTabSz="457200">
              <a:lnSpc>
                <a:spcPct val="150000"/>
              </a:lnSpc>
              <a:buClrTx/>
              <a:buFont typeface="Times Roman"/>
              <a:buChar char="•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Support Vector Machines (SVM)</a:t>
            </a:r>
          </a:p>
          <a:p>
            <a:pPr lvl="1" marL="609600" indent="-228600" algn="just" defTabSz="457200">
              <a:lnSpc>
                <a:spcPct val="150000"/>
              </a:lnSpc>
              <a:buClrTx/>
              <a:buFont typeface="Times Roman"/>
              <a:buChar char="•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Forest</a:t>
            </a:r>
          </a:p>
          <a:p>
            <a:pPr lvl="1" marL="0" indent="228600" algn="just" defTabSz="457200">
              <a:lnSpc>
                <a:spcPct val="150000"/>
              </a:lnSpc>
              <a:buClrTx/>
              <a:buSzTx/>
              <a:buFontTx/>
              <a:buNone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are widely used for cyber attack detection.</a:t>
            </a:r>
          </a:p>
          <a:p>
            <a:pPr marL="140368" indent="-140368" algn="just" defTabSz="457200">
              <a:lnSpc>
                <a:spcPct val="150000"/>
              </a:lnSpc>
              <a:buClrTx/>
              <a:buFontTx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Deep Learning models like CNNs and RNNs are used for detecting complex attack patterns.</a:t>
            </a:r>
          </a:p>
          <a:p>
            <a:pPr marL="140368" indent="-140368" algn="just" defTabSz="457200">
              <a:lnSpc>
                <a:spcPct val="150000"/>
              </a:lnSpc>
              <a:buClrTx/>
              <a:buFontTx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Existing approaches still face challenges related to:</a:t>
            </a:r>
          </a:p>
          <a:p>
            <a:pPr lvl="1" marL="609600" indent="-228600" algn="just" defTabSz="457200">
              <a:lnSpc>
                <a:spcPct val="150000"/>
              </a:lnSpc>
              <a:buClrTx/>
              <a:buFont typeface="Times Roman"/>
              <a:buChar char="•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False positives</a:t>
            </a:r>
          </a:p>
          <a:p>
            <a:pPr lvl="1" marL="609600" indent="-228600" algn="just" defTabSz="457200">
              <a:lnSpc>
                <a:spcPct val="150000"/>
              </a:lnSpc>
              <a:buClrTx/>
              <a:buFont typeface="Times Roman"/>
              <a:buChar char="•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quality</a:t>
            </a:r>
          </a:p>
          <a:p>
            <a:pPr lvl="1" marL="609600" indent="-228600" algn="just" defTabSz="457200">
              <a:lnSpc>
                <a:spcPct val="150000"/>
              </a:lnSpc>
              <a:buClrTx/>
              <a:buFont typeface="Times Roman"/>
              <a:buChar char="•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Real-time detection</a:t>
            </a:r>
          </a:p>
          <a:p>
            <a:pPr lvl="1" marL="609600" indent="-228600" algn="just" defTabSz="457200">
              <a:lnSpc>
                <a:spcPct val="150000"/>
              </a:lnSpc>
              <a:buClrTx/>
              <a:buFont typeface="Times Roman"/>
              <a:buChar char="•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Feature selection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he proposed system follows a structured Machine Learning pipeline for cyber attack detection, including preprocessing, model training, evaluation, and result analysis."/>
          <p:cNvSpPr txBox="1"/>
          <p:nvPr>
            <p:ph type="body" idx="4294967295"/>
          </p:nvPr>
        </p:nvSpPr>
        <p:spPr>
          <a:xfrm>
            <a:off x="232701" y="1047588"/>
            <a:ext cx="8229601" cy="5257801"/>
          </a:xfrm>
          <a:prstGeom prst="rect">
            <a:avLst/>
          </a:prstGeom>
        </p:spPr>
        <p:txBody>
          <a:bodyPr/>
          <a:lstStyle>
            <a:lvl1pPr marL="0" indent="0" algn="just" defTabSz="457200">
              <a:lnSpc>
                <a:spcPct val="150000"/>
              </a:lnSpc>
              <a:buClrTx/>
              <a:buSzTx/>
              <a:buFontTx/>
              <a:buNone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proposed system follows a structured Machine Learning pipeline for cyber attack detection, including preprocessing, model training, evaluation, and result analysis.</a:t>
            </a:r>
          </a:p>
        </p:txBody>
      </p:sp>
      <p:sp>
        <p:nvSpPr>
          <p:cNvPr id="329" name="Proposed Methodology"/>
          <p:cNvSpPr txBox="1"/>
          <p:nvPr/>
        </p:nvSpPr>
        <p:spPr>
          <a:xfrm>
            <a:off x="344950" y="19079"/>
            <a:ext cx="5928052" cy="837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Proposed Methodology</a:t>
            </a:r>
          </a:p>
        </p:txBody>
      </p:sp>
      <p:grpSp>
        <p:nvGrpSpPr>
          <p:cNvPr id="332" name="Group"/>
          <p:cNvGrpSpPr/>
          <p:nvPr/>
        </p:nvGrpSpPr>
        <p:grpSpPr>
          <a:xfrm>
            <a:off x="1171126" y="1825870"/>
            <a:ext cx="6801748" cy="4038741"/>
            <a:chOff x="0" y="0"/>
            <a:chExt cx="6801746" cy="4038740"/>
          </a:xfrm>
        </p:grpSpPr>
        <p:pic>
          <p:nvPicPr>
            <p:cNvPr id="330" name="IMG_20260405_215612.png" descr="IMG_20260405_215612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6801747" cy="37012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1" name="Caption"/>
            <p:cNvSpPr/>
            <p:nvPr/>
          </p:nvSpPr>
          <p:spPr>
            <a:xfrm>
              <a:off x="0" y="3802835"/>
              <a:ext cx="6801747" cy="235906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 defTabSz="457200">
                <a:defRPr sz="10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Fig. 1 Flowchart of Proposed Methodology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Implementation"/>
          <p:cNvSpPr txBox="1"/>
          <p:nvPr/>
        </p:nvSpPr>
        <p:spPr>
          <a:xfrm>
            <a:off x="258605" y="19079"/>
            <a:ext cx="5928052" cy="837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335" name="Tools and Technologies…"/>
          <p:cNvSpPr txBox="1"/>
          <p:nvPr>
            <p:ph type="body" idx="4294967295"/>
          </p:nvPr>
        </p:nvSpPr>
        <p:spPr>
          <a:xfrm>
            <a:off x="111817" y="943973"/>
            <a:ext cx="8229601" cy="5257801"/>
          </a:xfrm>
          <a:prstGeom prst="rect">
            <a:avLst/>
          </a:prstGeom>
        </p:spPr>
        <p:txBody>
          <a:bodyPr/>
          <a:lstStyle/>
          <a:p>
            <a:pPr marL="0" indent="0" algn="just" defTabSz="457200">
              <a:lnSpc>
                <a:spcPct val="150000"/>
              </a:lnSpc>
              <a:buClrTx/>
              <a:buSzTx/>
              <a:buFontTx/>
              <a:buNone/>
              <a:defRPr b="1" spc="0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Tools and Technologies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Python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Jupyter Notebook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Pandas, NumPy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Scikit-learn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Matplotlib, Seaborn</a:t>
            </a:r>
          </a:p>
          <a:p>
            <a:pPr marL="0" indent="0" algn="just" defTabSz="457200">
              <a:lnSpc>
                <a:spcPct val="150000"/>
              </a:lnSpc>
              <a:buClrTx/>
              <a:buSzTx/>
              <a:buFontTx/>
              <a:buNone/>
              <a:defRPr b="1" spc="0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Processing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Removed irrelevant features and handled missing values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Applied label encoding for categorical data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Performed train-test split (80:20)</a:t>
            </a:r>
          </a:p>
          <a:p>
            <a:pPr marL="0" indent="0" algn="just" defTabSz="457200">
              <a:lnSpc>
                <a:spcPct val="150000"/>
              </a:lnSpc>
              <a:buClrTx/>
              <a:buSzTx/>
              <a:buFontTx/>
              <a:buNone/>
              <a:defRPr b="1" spc="0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Learning Models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Logistic Regression</a:t>
            </a:r>
          </a:p>
          <a:p>
            <a:pPr marL="457200" indent="-317500" algn="just" defTabSz="457200">
              <a:lnSpc>
                <a:spcPct val="150000"/>
              </a:lnSpc>
              <a:buClrTx/>
              <a:buFont typeface="Times Roman"/>
              <a:defRPr spc="0"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Forest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Visualization and Analysis"/>
          <p:cNvSpPr txBox="1"/>
          <p:nvPr>
            <p:ph type="body" idx="4294967295"/>
          </p:nvPr>
        </p:nvSpPr>
        <p:spPr>
          <a:xfrm>
            <a:off x="146355" y="1021684"/>
            <a:ext cx="8229601" cy="5257801"/>
          </a:xfrm>
          <a:prstGeom prst="rect">
            <a:avLst/>
          </a:prstGeom>
        </p:spPr>
        <p:txBody>
          <a:bodyPr/>
          <a:lstStyle>
            <a:lvl1pPr marL="0" indent="0" algn="just" defTabSz="457200">
              <a:lnSpc>
                <a:spcPct val="150000"/>
              </a:lnSpc>
              <a:buClrTx/>
              <a:buSzTx/>
              <a:buFontTx/>
              <a:buNone/>
              <a:defRPr b="1" spc="0"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Visualization and Analysis</a:t>
            </a:r>
          </a:p>
        </p:txBody>
      </p:sp>
      <p:grpSp>
        <p:nvGrpSpPr>
          <p:cNvPr id="340" name="Group"/>
          <p:cNvGrpSpPr/>
          <p:nvPr/>
        </p:nvGrpSpPr>
        <p:grpSpPr>
          <a:xfrm>
            <a:off x="294779" y="1613356"/>
            <a:ext cx="4010884" cy="3234183"/>
            <a:chOff x="0" y="0"/>
            <a:chExt cx="4010882" cy="3234181"/>
          </a:xfrm>
        </p:grpSpPr>
        <p:pic>
          <p:nvPicPr>
            <p:cNvPr id="338" name="Screenshot 2026-03-19 at 9.35.58 PM.png" descr="Screenshot 2026-03-19 at 9.35.58 PM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350" y="0"/>
              <a:ext cx="3998183" cy="2890327"/>
            </a:xfrm>
            <a:prstGeom prst="rect">
              <a:avLst/>
            </a:prstGeom>
            <a:ln w="12700" cap="flat">
              <a:solidFill>
                <a:srgbClr val="DDDDDD"/>
              </a:solidFill>
              <a:prstDash val="solid"/>
              <a:miter lim="400000"/>
            </a:ln>
            <a:effectLst/>
          </p:spPr>
        </p:pic>
        <p:sp>
          <p:nvSpPr>
            <p:cNvPr id="339" name="Caption"/>
            <p:cNvSpPr/>
            <p:nvPr/>
          </p:nvSpPr>
          <p:spPr>
            <a:xfrm>
              <a:off x="0" y="2998276"/>
              <a:ext cx="4010883" cy="235906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 defTabSz="457200">
                <a:defRPr sz="10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Fig. 2 Distribution of Cyber Attack Types</a:t>
              </a:r>
            </a:p>
          </p:txBody>
        </p:sp>
      </p:grpSp>
      <p:grpSp>
        <p:nvGrpSpPr>
          <p:cNvPr id="343" name="Group"/>
          <p:cNvGrpSpPr/>
          <p:nvPr/>
        </p:nvGrpSpPr>
        <p:grpSpPr>
          <a:xfrm>
            <a:off x="4721595" y="1578203"/>
            <a:ext cx="3854551" cy="3304490"/>
            <a:chOff x="0" y="0"/>
            <a:chExt cx="3854549" cy="3304489"/>
          </a:xfrm>
        </p:grpSpPr>
        <p:pic>
          <p:nvPicPr>
            <p:cNvPr id="341" name="Screenshot 2026-03-19 at 9.49.29 PM.png" descr="Screenshot 2026-03-19 at 9.49.29 PM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350" y="0"/>
              <a:ext cx="3841851" cy="2960635"/>
            </a:xfrm>
            <a:prstGeom prst="rect">
              <a:avLst/>
            </a:prstGeom>
            <a:ln w="12700" cap="flat">
              <a:solidFill>
                <a:srgbClr val="DDDDDD"/>
              </a:solidFill>
              <a:prstDash val="solid"/>
              <a:miter lim="400000"/>
            </a:ln>
            <a:effectLst/>
          </p:spPr>
        </p:pic>
        <p:sp>
          <p:nvSpPr>
            <p:cNvPr id="342" name="Caption"/>
            <p:cNvSpPr/>
            <p:nvPr/>
          </p:nvSpPr>
          <p:spPr>
            <a:xfrm>
              <a:off x="0" y="3068584"/>
              <a:ext cx="3854551" cy="235906"/>
            </a:xfrm>
            <a:prstGeom prst="roundRect">
              <a:avLst>
                <a:gd name="adj" fmla="val 0"/>
              </a:avLst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 defTabSz="457200">
                <a:defRPr sz="1000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Fig. 3Feature Correlation Heatmap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Results"/>
          <p:cNvSpPr txBox="1"/>
          <p:nvPr/>
        </p:nvSpPr>
        <p:spPr>
          <a:xfrm>
            <a:off x="-276738" y="19079"/>
            <a:ext cx="5928052" cy="837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346" name="Model Performance…"/>
          <p:cNvSpPr txBox="1"/>
          <p:nvPr/>
        </p:nvSpPr>
        <p:spPr>
          <a:xfrm>
            <a:off x="129140" y="1114717"/>
            <a:ext cx="8298680" cy="4861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just" defTabSz="457200">
              <a:lnSpc>
                <a:spcPct val="150000"/>
              </a:lnSpc>
              <a:spcBef>
                <a:spcPts val="600"/>
              </a:spcBef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Model Performance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Logistic Regression Accuracy: ~19%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Forest Accuracy: ~20%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Forest showed slightly better performance due to its ability to handle complex feature relationships.</a:t>
            </a:r>
          </a:p>
          <a:p>
            <a:pPr algn="just" defTabSz="457200">
              <a:lnSpc>
                <a:spcPct val="150000"/>
              </a:lnSpc>
              <a:spcBef>
                <a:spcPts val="600"/>
              </a:spcBef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Key Observations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Weak feature correlations affected prediction accuracy.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Some attack categories were frequently misclassified.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Dataset quality significantly impacted model performance.</a:t>
            </a:r>
          </a:p>
          <a:p>
            <a:pPr algn="just" defTabSz="457200">
              <a:lnSpc>
                <a:spcPct val="150000"/>
              </a:lnSpc>
              <a:spcBef>
                <a:spcPts val="600"/>
              </a:spcBef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Overall Outcome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Machine Learning models were successfully implemented for cyber attack detection.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project demonstrated the importance of preprocessing and feature engineering in cybersecurity systems.</a:t>
            </a:r>
          </a:p>
          <a:p>
            <a:pPr marL="457200" indent="-457200" defTabSz="457200">
              <a:tabLst>
                <a:tab pos="139700" algn="l"/>
                <a:tab pos="457200" algn="l"/>
              </a:tabLst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Conclusion and Future Scope"/>
          <p:cNvSpPr txBox="1"/>
          <p:nvPr/>
        </p:nvSpPr>
        <p:spPr>
          <a:xfrm>
            <a:off x="362219" y="0"/>
            <a:ext cx="5928052" cy="837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Conclusion and Future Scope</a:t>
            </a:r>
          </a:p>
        </p:txBody>
      </p:sp>
      <p:sp>
        <p:nvSpPr>
          <p:cNvPr id="349" name="Conclusion…"/>
          <p:cNvSpPr txBox="1"/>
          <p:nvPr/>
        </p:nvSpPr>
        <p:spPr>
          <a:xfrm>
            <a:off x="113543" y="1135744"/>
            <a:ext cx="8650437" cy="4511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 defTabSz="457200">
              <a:lnSpc>
                <a:spcPct val="150000"/>
              </a:lnSpc>
              <a:spcBef>
                <a:spcPts val="600"/>
              </a:spcBef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Conclusion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Implemented Machine Learning techniques for cyber attack detection using cybersecurity event data.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Random Forest slightly outperformed Logistic Regression with ~20% accuracy.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Weak feature relationships and limited predictive patterns affected overall model performance.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12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project demonstrated the importance of preprocessing, feature selection, and dataset quality in cybersecurity applications.</a:t>
            </a:r>
          </a:p>
          <a:p>
            <a:pPr algn="just" defTabSz="457200">
              <a:lnSpc>
                <a:spcPct val="150000"/>
              </a:lnSpc>
              <a:spcBef>
                <a:spcPts val="600"/>
              </a:spcBef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Future Scope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Use advanced Machine Learning and Deep Learning models.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Improve feature engineering and dataset quality.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Develop real-time cyber attack detection systems.</a:t>
            </a:r>
          </a:p>
          <a:p>
            <a:pPr marL="457200" indent="-317500" algn="just" defTabSz="457200">
              <a:lnSpc>
                <a:spcPct val="150000"/>
              </a:lnSpc>
              <a:spcBef>
                <a:spcPts val="600"/>
              </a:spcBef>
              <a:buSzPct val="100000"/>
              <a:buFont typeface="Times Roman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Integrate automated threat monitoring and response mechanisms.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ferences"/>
          <p:cNvSpPr txBox="1"/>
          <p:nvPr/>
        </p:nvSpPr>
        <p:spPr>
          <a:xfrm>
            <a:off x="-86778" y="0"/>
            <a:ext cx="5928052" cy="837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352" name="W. Stallings, Network Security Essentials, Pearson, 2017.…"/>
          <p:cNvSpPr txBox="1"/>
          <p:nvPr/>
        </p:nvSpPr>
        <p:spPr>
          <a:xfrm>
            <a:off x="146283" y="997838"/>
            <a:ext cx="8495145" cy="2927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190500" indent="-190500" algn="just" defTabSz="457200">
              <a:lnSpc>
                <a:spcPct val="150000"/>
              </a:lnSpc>
              <a:spcBef>
                <a:spcPts val="600"/>
              </a:spcBef>
              <a:buSzPct val="100000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W. Stallings, Network Security Essentials, Pearson, 2017.</a:t>
            </a:r>
          </a:p>
          <a:p>
            <a:pPr marL="190500" indent="-190500" algn="just" defTabSz="457200">
              <a:lnSpc>
                <a:spcPct val="150000"/>
              </a:lnSpc>
              <a:spcBef>
                <a:spcPts val="600"/>
              </a:spcBef>
              <a:buSzPct val="100000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S. Dua and X. Du, Data Mining and Machine Learning in Cybersecurity, CRC Press, 2016.</a:t>
            </a:r>
          </a:p>
          <a:p>
            <a:pPr marL="190500" indent="-190500" algn="just" defTabSz="457200">
              <a:lnSpc>
                <a:spcPct val="150000"/>
              </a:lnSpc>
              <a:spcBef>
                <a:spcPts val="600"/>
              </a:spcBef>
              <a:buSzPct val="100000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N. Moustafa and J. Slay, “The UNSW-NB15 dataset for network intrusion detection systems,” IEEE MilCIS, 2015.</a:t>
            </a:r>
          </a:p>
          <a:p>
            <a:pPr marL="190500" indent="-190500" algn="just" defTabSz="457200">
              <a:lnSpc>
                <a:spcPct val="150000"/>
              </a:lnSpc>
              <a:spcBef>
                <a:spcPts val="600"/>
              </a:spcBef>
              <a:buSzPct val="100000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M. Alazab et al., “Cybercrime: The case of obfuscated malware,” 2011.</a:t>
            </a:r>
          </a:p>
          <a:p>
            <a:pPr marL="190500" indent="-190500" algn="just" defTabSz="457200">
              <a:lnSpc>
                <a:spcPct val="150000"/>
              </a:lnSpc>
              <a:spcBef>
                <a:spcPts val="600"/>
              </a:spcBef>
              <a:buSzPct val="100000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I. Goodfellow, Y. Bengio, and A. Courville, Deep Learning, MIT Press, 2016.</a:t>
            </a:r>
          </a:p>
          <a:p>
            <a:pPr marL="190500" indent="-190500" algn="just" defTabSz="457200">
              <a:lnSpc>
                <a:spcPct val="150000"/>
              </a:lnSpc>
              <a:spcBef>
                <a:spcPts val="600"/>
              </a:spcBef>
              <a:buSzPct val="100000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T. M. Mitchell, Machine Learning, McGraw-Hill, 1997.</a:t>
            </a:r>
          </a:p>
          <a:p>
            <a:pPr marL="190500" indent="-190500" algn="just" defTabSz="457200">
              <a:lnSpc>
                <a:spcPct val="150000"/>
              </a:lnSpc>
              <a:spcBef>
                <a:spcPts val="600"/>
              </a:spcBef>
              <a:buSzPct val="100000"/>
              <a:buChar char="•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Scikit-learn Developers, “Scikit-learn: Machine Learning in Python.”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Shape 1"/>
          <p:cNvSpPr txBox="1"/>
          <p:nvPr/>
        </p:nvSpPr>
        <p:spPr>
          <a:xfrm>
            <a:off x="1343296" y="3102118"/>
            <a:ext cx="6614161" cy="849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55" name="TextShape 3"/>
          <p:cNvSpPr txBox="1"/>
          <p:nvPr>
            <p:ph type="sldNum" sz="quarter" idx="4294967295"/>
          </p:nvPr>
        </p:nvSpPr>
        <p:spPr>
          <a:xfrm>
            <a:off x="8428070" y="6414707"/>
            <a:ext cx="258370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